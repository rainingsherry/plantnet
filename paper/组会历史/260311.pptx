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69" r:id="rId16"/>
    <p:sldId id="273" r:id="rId17"/>
    <p:sldId id="274" r:id="rId18"/>
    <p:sldId id="270" r:id="rId19"/>
    <p:sldId id="268" r:id="rId20"/>
    <p:sldId id="276" r:id="rId21"/>
    <p:sldId id="27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44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0013F-851E-4EEC-877B-C12C59EC5056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68543-6D7B-45C9-9681-F273C2B997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028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重点在于使用不同的模型以及不同的分词方法，表示不同的分词方法和模型对结果有较大的影响。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68543-6D7B-45C9-9681-F273C2B997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520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两模型结构不同，</a:t>
            </a:r>
            <a:r>
              <a:rPr lang="en-US" altLang="zh-CN" dirty="0"/>
              <a:t>Evo</a:t>
            </a:r>
            <a:r>
              <a:rPr lang="zh-CN" altLang="en-US" dirty="0"/>
              <a:t>侧重于学习序列的分布，而</a:t>
            </a:r>
            <a:r>
              <a:rPr lang="en-US" altLang="zh-CN" dirty="0" err="1"/>
              <a:t>alphagenome</a:t>
            </a:r>
            <a:r>
              <a:rPr lang="zh-CN" altLang="en-US" dirty="0"/>
              <a:t>更倾向于抽取出生物学目标特征</a:t>
            </a:r>
            <a:endParaRPr lang="en-US" altLang="zh-CN" dirty="0"/>
          </a:p>
          <a:p>
            <a:r>
              <a:rPr lang="zh-CN" altLang="en-US" dirty="0"/>
              <a:t>但是</a:t>
            </a:r>
            <a:r>
              <a:rPr lang="en-US" altLang="zh-CN" dirty="0"/>
              <a:t>Diffusion</a:t>
            </a:r>
            <a:r>
              <a:rPr lang="zh-CN" altLang="en-US" dirty="0"/>
              <a:t>同为生成模型，一开始也是特征维度始终相似，后续发展出</a:t>
            </a:r>
            <a:r>
              <a:rPr lang="sv-SE" altLang="zh-CN" dirty="0"/>
              <a:t>DDPM</a:t>
            </a:r>
            <a:r>
              <a:rPr lang="zh-CN" altLang="en-US" dirty="0"/>
              <a:t>和</a:t>
            </a:r>
            <a:r>
              <a:rPr lang="sv-SE" altLang="zh-CN" dirty="0"/>
              <a:t>LDM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68543-6D7B-45C9-9681-F273C2B997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695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FC219-1CA9-738B-4999-5E01739D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67A79D-DB0D-343E-7D50-5098E518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2A038E-7EDC-13B0-CD42-515161ABB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可不可以在模型编码？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EED0CE-5DDC-A300-6470-5EF6871BD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68543-6D7B-45C9-9681-F273C2B997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1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zh-CN" altLang="en-US" sz="1200" dirty="0"/>
              <a:t>如果发现一个暂时没有的问题，比如沿着图像</a:t>
            </a:r>
            <a:r>
              <a:rPr lang="en-US" altLang="zh-CN" sz="1200" dirty="0"/>
              <a:t>/</a:t>
            </a:r>
            <a:r>
              <a:rPr lang="zh-CN" altLang="en-US" sz="1200" dirty="0"/>
              <a:t>音频的发展路径，在一众</a:t>
            </a:r>
            <a:r>
              <a:rPr lang="en-US" altLang="zh-CN" sz="1200" dirty="0"/>
              <a:t>DNA</a:t>
            </a:r>
            <a:r>
              <a:rPr lang="zh-CN" altLang="en-US" sz="1200" dirty="0"/>
              <a:t>生成模型中有没有类似遇见</a:t>
            </a:r>
            <a:r>
              <a:rPr lang="en-US" altLang="zh-CN" sz="1200" dirty="0"/>
              <a:t>Diffusion</a:t>
            </a:r>
            <a:r>
              <a:rPr lang="zh-CN" altLang="en-US" sz="1200" dirty="0"/>
              <a:t>或其他生成模型那样的困难？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68543-6D7B-45C9-9681-F273C2B9978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265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Evo</a:t>
            </a:r>
            <a:r>
              <a:rPr lang="zh-CN" altLang="en-US" sz="1200" dirty="0"/>
              <a:t>在解释模型的时候挑选了中后段的隐藏层，而非中间或最后层。</a:t>
            </a:r>
            <a:endParaRPr lang="en-US" altLang="zh-CN" sz="1200" dirty="0"/>
          </a:p>
          <a:p>
            <a:r>
              <a:rPr lang="en-US" altLang="zh-CN" sz="1200" dirty="0" err="1"/>
              <a:t>Alphagenome</a:t>
            </a:r>
            <a:r>
              <a:rPr lang="zh-CN" altLang="en-US" sz="1200" dirty="0"/>
              <a:t>在输出时也用了不同精度的层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68543-6D7B-45C9-9681-F273C2B9978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924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93C34-04F7-39D5-A1E6-288A90C66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5506"/>
            <a:ext cx="9144000" cy="2387600"/>
          </a:xfrm>
        </p:spPr>
        <p:txBody>
          <a:bodyPr/>
          <a:lstStyle/>
          <a:p>
            <a:r>
              <a:rPr lang="zh-CN" altLang="en-US" dirty="0"/>
              <a:t>长序列与多尺度特征及多模态融合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0C02B6-96E1-8374-5AF0-485D52E94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5181"/>
            <a:ext cx="9144000" cy="1655762"/>
          </a:xfrm>
        </p:spPr>
        <p:txBody>
          <a:bodyPr/>
          <a:lstStyle/>
          <a:p>
            <a:r>
              <a:rPr lang="en-US" altLang="zh-CN" dirty="0"/>
              <a:t>2026-3-11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86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4B5FE-3165-4619-E703-F2A47204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Genomic Language Models: Opportunities and 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DA693F-7F80-B93D-736D-576CA580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99DC1D-42B8-85F6-82E9-29B0EF893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10" y="1825625"/>
            <a:ext cx="82962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98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8478B-A99A-2774-4FA0-20D08CF2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42E4E-E792-0BB9-D53B-F1D714E1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Deep learning applications advance plant genomics research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2A494-32F9-EB97-BE43-DFFD22DB8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9E45AD-BFCF-98F7-3D4B-D400E64E4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7699"/>
            <a:ext cx="10535859" cy="35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2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BFA13-34C1-FC5D-C76B-3A168BAB2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10" y="935141"/>
            <a:ext cx="3022893" cy="13255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PDLLMs:</a:t>
            </a:r>
            <a:r>
              <a:rPr lang="en-US" altLang="zh-CN" sz="3100" dirty="0"/>
              <a:t> A group of tailored DNA large language models for analyzing plant genomes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314242-AB76-B70E-3CAE-B77432F11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956" y="141375"/>
            <a:ext cx="8063018" cy="657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5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16230-1EF9-C453-B27D-2791B5FA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AlphaGenome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3F94E2F-DDEE-D14E-8318-F1B3EE486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561" y="785874"/>
            <a:ext cx="7136439" cy="52862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8A55AAE-3CD6-813E-7BDC-793DDB20EC99}"/>
              </a:ext>
            </a:extLst>
          </p:cNvPr>
          <p:cNvSpPr txBox="1"/>
          <p:nvPr/>
        </p:nvSpPr>
        <p:spPr>
          <a:xfrm>
            <a:off x="218191" y="3144440"/>
            <a:ext cx="609814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RNA-seq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：测量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RNA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分子表达水平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CAGE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：精确检测转录起始位点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PRO-cap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：实时测量正在进行中的转录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DNase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：检测染色质开放区域（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DNase I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切割）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ATAC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：检测染色质开放区域（转座酶插入）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Histone modifications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：组蛋白化学修饰标记调控状态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TF binding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：转录因子在全基因组的结合位点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Splice sites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：内含子与外显子边界位置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Splice junctions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RNA-seq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中检测到的外显子连接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Splice site usage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：特定剪接位点的使用频率</a:t>
            </a:r>
            <a:br>
              <a:rPr lang="zh-CN" altLang="en-US" sz="1600" dirty="0"/>
            </a:b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DNA contact maps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：基因组三维空间接触图谱</a:t>
            </a:r>
            <a:endParaRPr lang="zh-CN" altLang="en-US" sz="16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A0498F-B52E-65F4-94CC-8348ECFDA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8" y="1566130"/>
            <a:ext cx="4786313" cy="109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6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C7C45-D5A0-2F92-373C-E8DE8731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0B8FA-3E60-213A-D27F-B40EDF3E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AlphaGenome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F79E58-A276-F25A-8BB6-D5078428A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195" y="365125"/>
            <a:ext cx="9696190" cy="1066394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B29A888-6853-D152-7BCD-1DA2AEE28255}"/>
              </a:ext>
            </a:extLst>
          </p:cNvPr>
          <p:cNvSpPr txBox="1"/>
          <p:nvPr/>
        </p:nvSpPr>
        <p:spPr>
          <a:xfrm>
            <a:off x="180583" y="1443840"/>
            <a:ext cx="60939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编码：卷积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下采样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将分辨率从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压缩到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128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，然后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Transformer Tower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128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分辨率上建模长程的依赖关系</a:t>
            </a: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解码：卷积上采样加来自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encoder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的跳跃链接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训练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预训练多教师模型</a:t>
            </a: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蒸馏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数据：</a:t>
            </a:r>
          </a:p>
          <a:p>
            <a:pPr algn="just"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数据有细尺度的调控特征，在过高的压缩下丧失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Conv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处理局部，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Transformer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处理长程，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Pair Block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处理三维接触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数据增强：随机增强：随机移位和反向互补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dirty="0">
                <a:solidFill>
                  <a:srgbClr val="7030A0"/>
                </a:solidFill>
              </a:rPr>
              <a:t>随着</a:t>
            </a:r>
            <a:r>
              <a:rPr lang="en-US" altLang="zh-CN" dirty="0">
                <a:solidFill>
                  <a:srgbClr val="7030A0"/>
                </a:solidFill>
              </a:rPr>
              <a:t> CNN </a:t>
            </a:r>
            <a:r>
              <a:rPr lang="zh-CN" altLang="zh-CN" dirty="0">
                <a:solidFill>
                  <a:srgbClr val="7030A0"/>
                </a:solidFill>
              </a:rPr>
              <a:t>层数加深和下采样高分辨率的局部信息（如精确的剪接位点位置）会逐渐丢失</a:t>
            </a:r>
            <a:r>
              <a:rPr lang="en-US" altLang="zh-CN" dirty="0">
                <a:solidFill>
                  <a:srgbClr val="7030A0"/>
                </a:solidFill>
              </a:rPr>
              <a:t>?</a:t>
            </a:r>
            <a:endParaRPr lang="zh-CN" altLang="zh-CN" dirty="0">
              <a:solidFill>
                <a:srgbClr val="7030A0"/>
              </a:solidFill>
            </a:endParaRPr>
          </a:p>
          <a:p>
            <a:r>
              <a:rPr lang="zh-CN" altLang="zh-CN" dirty="0">
                <a:solidFill>
                  <a:srgbClr val="7030A0"/>
                </a:solidFill>
              </a:rPr>
              <a:t>使用多尺度特征融合，跳跃池化链接</a:t>
            </a:r>
            <a:r>
              <a:rPr lang="en-US" altLang="zh-CN" dirty="0">
                <a:solidFill>
                  <a:srgbClr val="7030A0"/>
                </a:solidFill>
              </a:rPr>
              <a:t>?</a:t>
            </a:r>
            <a:endParaRPr lang="zh-CN" altLang="zh-CN" dirty="0">
              <a:solidFill>
                <a:srgbClr val="7030A0"/>
              </a:solidFill>
            </a:endParaRPr>
          </a:p>
          <a:p>
            <a:pPr algn="just"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35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894CC-039C-8FFB-AD5A-D6014AFB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EVO2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69132-50CD-FE34-F9C0-A0D61C79C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E2E376-D38E-D9F4-15BB-DE8496296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932" y="365125"/>
            <a:ext cx="85725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19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9FF67-C5EC-8326-2854-99B220BD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2BE1C-E5E5-9917-9F65-6A8F43D0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EVO2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CCBA2B-FA23-BDC9-B3DE-8F668C527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617" y="-2923561"/>
            <a:ext cx="8572500" cy="5753100"/>
          </a:xfrm>
          <a:prstGeom prst="rect">
            <a:avLst/>
          </a:prstGeo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D9F36B17-FDAD-83C6-EC0C-9855F3E85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59964" y="3553490"/>
            <a:ext cx="8732036" cy="2851702"/>
          </a:xfrm>
          <a:prstGeom prst="rect">
            <a:avLst/>
          </a:pr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DB842F32-4B5B-4FE5-D7E1-114C30C3CBF8}"/>
              </a:ext>
            </a:extLst>
          </p:cNvPr>
          <p:cNvSpPr txBox="1">
            <a:spLocks/>
          </p:cNvSpPr>
          <p:nvPr/>
        </p:nvSpPr>
        <p:spPr>
          <a:xfrm>
            <a:off x="625257" y="402846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dirty="0"/>
              <a:t>Alpha</a:t>
            </a:r>
            <a:endParaRPr lang="en-US" altLang="zh-CN" dirty="0"/>
          </a:p>
          <a:p>
            <a:r>
              <a:rPr lang="zh-CN" altLang="zh-CN" dirty="0"/>
              <a:t>Genome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088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5CAD3-B91D-8075-E4EC-42D577D9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01842F6-DF05-EE12-8F45-2B2CC6EB5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893" y="2420092"/>
            <a:ext cx="4503999" cy="21567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530C481-321F-B52A-3190-16619B3166F7}"/>
              </a:ext>
            </a:extLst>
          </p:cNvPr>
          <p:cNvSpPr txBox="1"/>
          <p:nvPr/>
        </p:nvSpPr>
        <p:spPr>
          <a:xfrm>
            <a:off x="375781" y="3729205"/>
            <a:ext cx="3661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altLang="zh-CN" sz="2800" dirty="0"/>
              <a:t>Latent Diffusion Models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7F42AF-808F-64E8-FD9A-964739944E03}"/>
              </a:ext>
            </a:extLst>
          </p:cNvPr>
          <p:cNvSpPr txBox="1"/>
          <p:nvPr/>
        </p:nvSpPr>
        <p:spPr>
          <a:xfrm>
            <a:off x="375781" y="810640"/>
            <a:ext cx="31339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altLang="zh-CN" sz="2800" dirty="0"/>
              <a:t>Denoising Diffusion </a:t>
            </a:r>
          </a:p>
          <a:p>
            <a:r>
              <a:rPr lang="sv-SE" altLang="zh-CN" sz="2800" dirty="0"/>
              <a:t>Probabilistic Models</a:t>
            </a:r>
          </a:p>
          <a:p>
            <a:endParaRPr lang="zh-CN" altLang="en-US" sz="28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3B6F718-F5F5-B824-94D6-EF678A62D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20" y="38853"/>
            <a:ext cx="6470346" cy="215678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E1770C5-0A01-118F-6BF0-08F0CD1E6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677" y="4576874"/>
            <a:ext cx="3464429" cy="230544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712DE29-D88C-FBDF-72B0-59C03CC6DF7C}"/>
              </a:ext>
            </a:extLst>
          </p:cNvPr>
          <p:cNvSpPr txBox="1"/>
          <p:nvPr/>
        </p:nvSpPr>
        <p:spPr>
          <a:xfrm>
            <a:off x="264281" y="5250716"/>
            <a:ext cx="60939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Back to Basics</a:t>
            </a:r>
          </a:p>
          <a:p>
            <a:r>
              <a:rPr lang="en-US" altLang="zh-CN" sz="2800" dirty="0"/>
              <a:t>Let Denoising Generative Models Denoise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6402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65D34F-6247-A8BD-82AE-B2552FF37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489" y="640616"/>
            <a:ext cx="4002238" cy="5576768"/>
          </a:xfrm>
        </p:spPr>
        <p:txBody>
          <a:bodyPr anchor="t">
            <a:norm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ICLR 2026 Oral</a:t>
            </a:r>
            <a:br>
              <a:rPr lang="en-US" altLang="zh-CN" sz="3200" dirty="0">
                <a:solidFill>
                  <a:schemeClr val="bg1"/>
                </a:solidFill>
              </a:rPr>
            </a:br>
            <a:br>
              <a:rPr lang="en-US" altLang="zh-CN" sz="3200" dirty="0">
                <a:solidFill>
                  <a:schemeClr val="bg1"/>
                </a:solidFill>
              </a:rPr>
            </a:br>
            <a:r>
              <a:rPr lang="en-US" altLang="zh-CN" sz="3200" dirty="0">
                <a:solidFill>
                  <a:schemeClr val="bg1"/>
                </a:solidFill>
              </a:rPr>
              <a:t>Extending Sequence Length is Not All You Need</a:t>
            </a:r>
            <a:r>
              <a:rPr lang="en-US" altLang="zh-CN" sz="3000" dirty="0">
                <a:solidFill>
                  <a:schemeClr val="bg1"/>
                </a:solidFill>
              </a:rPr>
              <a:t>: Effective Integration of Multimodal Signals for Gene Expression Prediction</a:t>
            </a:r>
            <a:endParaRPr lang="zh-CN" alt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118" y="0"/>
            <a:ext cx="752987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6" y="4006121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DFFE5A-E7F0-F860-0327-60182F680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963" y="798490"/>
            <a:ext cx="7224182" cy="490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5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44B504-16EA-982D-56D5-5FE9243A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Extending Sequence Length is Not All You Need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22D3AF-DC7A-E450-B18B-2B7597D75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2000" b="1" dirty="0"/>
              <a:t>CNN-Transformer</a:t>
            </a:r>
            <a:r>
              <a:rPr lang="zh-CN" altLang="en-US" sz="2000" b="1" dirty="0"/>
              <a:t>模型</a:t>
            </a:r>
            <a:endParaRPr lang="en-US" altLang="zh-CN" sz="2000" b="1" dirty="0"/>
          </a:p>
          <a:p>
            <a:r>
              <a:rPr lang="en-US" altLang="zh-CN" sz="2000" b="1" dirty="0"/>
              <a:t>[</a:t>
            </a:r>
            <a:r>
              <a:rPr lang="en-US" altLang="zh-CN" sz="2000" b="1" dirty="0" err="1"/>
              <a:t>Enformer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Borzoi,alphagenome</a:t>
            </a:r>
            <a:r>
              <a:rPr lang="en-US" altLang="zh-CN" sz="2000" b="1" dirty="0"/>
              <a:t>]</a:t>
            </a:r>
          </a:p>
          <a:p>
            <a:pPr marL="0"/>
            <a:endParaRPr lang="en-US" altLang="zh-CN" sz="2000" dirty="0"/>
          </a:p>
          <a:p>
            <a:r>
              <a:rPr lang="zh-CN" altLang="en-US" sz="1800" dirty="0"/>
              <a:t>先下采样再捕捉信息，难以捕捉单碱基变异影响</a:t>
            </a:r>
            <a:endParaRPr lang="en-US" altLang="zh-CN" sz="1800" dirty="0"/>
          </a:p>
          <a:p>
            <a:r>
              <a:rPr lang="zh-CN" altLang="en-US" sz="1800" dirty="0"/>
              <a:t>泛化性更弱</a:t>
            </a:r>
            <a:endParaRPr lang="en-US" altLang="zh-CN" sz="1800" dirty="0"/>
          </a:p>
          <a:p>
            <a:r>
              <a:rPr lang="zh-CN" altLang="en-US" sz="1800" dirty="0"/>
              <a:t>多任务上（一次性预测多个生物指标）更强。但单任务更弱</a:t>
            </a:r>
            <a:endParaRPr lang="en-US" altLang="zh-CN" sz="1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AA66C13-F571-764A-CF6D-EF46F0AE73DF}"/>
              </a:ext>
            </a:extLst>
          </p:cNvPr>
          <p:cNvSpPr txBox="1">
            <a:spLocks/>
          </p:cNvSpPr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SSM</a:t>
            </a:r>
            <a:r>
              <a:rPr lang="zh-CN" altLang="en-US" sz="2000" b="1" dirty="0"/>
              <a:t>模型</a:t>
            </a:r>
            <a:endParaRPr lang="en-US" altLang="zh-CN" sz="2000" b="1" dirty="0"/>
          </a:p>
          <a:p>
            <a:r>
              <a:rPr lang="en-US" altLang="zh-CN" sz="2000" b="1" dirty="0"/>
              <a:t>[Mamba, Caduceus, </a:t>
            </a:r>
            <a:r>
              <a:rPr lang="en-US" altLang="zh-CN" sz="2000" b="1" dirty="0" err="1"/>
              <a:t>HyenaDNA</a:t>
            </a:r>
            <a:r>
              <a:rPr lang="en-US" altLang="zh-CN" sz="2000" b="1" dirty="0"/>
              <a:t>]</a:t>
            </a:r>
          </a:p>
          <a:p>
            <a:pPr marL="0"/>
            <a:endParaRPr lang="en-US" altLang="zh-CN" sz="2000" dirty="0"/>
          </a:p>
          <a:p>
            <a:r>
              <a:rPr lang="zh-CN" altLang="en-US" sz="1800" dirty="0"/>
              <a:t>隐藏状态大小固定</a:t>
            </a:r>
            <a:r>
              <a:rPr lang="en-US" altLang="zh-CN" sz="1800" dirty="0"/>
              <a:t>,</a:t>
            </a:r>
            <a:r>
              <a:rPr lang="zh-CN" altLang="en-US" sz="1800" dirty="0"/>
              <a:t>长程建模能力有限</a:t>
            </a:r>
            <a:endParaRPr lang="en-US" altLang="zh-CN" sz="1800" dirty="0"/>
          </a:p>
          <a:p>
            <a:r>
              <a:rPr lang="zh-CN" altLang="en-US" sz="1800" dirty="0"/>
              <a:t>模型会倾向关注附近的</a:t>
            </a:r>
            <a:r>
              <a:rPr lang="en-US" altLang="zh-CN" sz="1800" dirty="0"/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3086395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A1056-04AB-5B37-B55E-9A444FAE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44A28-160F-FEE2-C899-2A1D9440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39C50D-0221-0CD8-B951-0CDBEC85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338" y="1027906"/>
            <a:ext cx="5430928" cy="46371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9E249F-2666-70C9-192F-05C2FFB83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19" y="1825625"/>
            <a:ext cx="5914582" cy="289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84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16E51-A704-023F-6F80-E8E9CAB4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C91C6-7628-4D27-AADD-027C4BDD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83EA95-DBB7-DD12-2364-DC43B7BBF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AA37B4-1682-FEE1-84AE-83DE0486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48" y="534809"/>
            <a:ext cx="5914582" cy="28941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FD5B157-0007-D224-4E5A-F9459323E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30" y="4257473"/>
            <a:ext cx="5753100" cy="17430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BFC0525-6DC6-C6FC-41D8-E911EF997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030" y="1123290"/>
            <a:ext cx="4536781" cy="387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4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BFFDA-B38B-9E2F-7F18-9E9B2701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84E48-2D8A-8D03-C6AA-2AD9872F1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55E86F-6595-D177-9F75-B1727A565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361" y="172364"/>
            <a:ext cx="8927404" cy="62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15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516E381-2A6D-DB3F-4CEE-A569CCB5A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374" y="620294"/>
            <a:ext cx="2359586" cy="246217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06260C8-CB6B-0F4F-F86C-CBAF44133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760" y="3310803"/>
            <a:ext cx="8839200" cy="26384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3D97BEB-FBE1-A99F-2642-5F54A298C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670" y="911493"/>
            <a:ext cx="3677433" cy="206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8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482F8-CC33-25A4-B3FC-68CE2638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44E5D-50A3-F532-EFF7-1FDC854B9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DC9019-72C4-6463-B72D-C9BBD24E5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49" y="2881313"/>
            <a:ext cx="8210550" cy="32956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7C860D-C126-BEFC-3077-AA40FFC8A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81" y="833546"/>
            <a:ext cx="5511713" cy="120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65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A957D-95A5-6D9C-77E7-ED7FF793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097AA-20FC-E942-818B-9748CF300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FB33E9-0FC3-A5A7-1AB9-54D19F2E6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45" y="1192875"/>
            <a:ext cx="8879839" cy="447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12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6C52A-4EBE-431B-61EC-88847DEC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73F806-2124-CB56-45A4-6A4E88F73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zh-CN" altLang="en-US" dirty="0"/>
              <a:t>针对特定目标的注意力（可不可以用一些不同生物</a:t>
            </a:r>
            <a:r>
              <a:rPr lang="en-US" altLang="zh-CN" dirty="0"/>
              <a:t>DNA</a:t>
            </a:r>
            <a:r>
              <a:rPr lang="zh-CN" altLang="en-US" dirty="0"/>
              <a:t>中共有的信息</a:t>
            </a:r>
            <a:r>
              <a:rPr lang="en-US" altLang="zh-CN" dirty="0"/>
              <a:t>/</a:t>
            </a:r>
            <a:r>
              <a:rPr lang="zh-CN" altLang="en-US" dirty="0"/>
              <a:t>功能片段做类似目标检测的任务，以学到共同规律）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多尺度的特征融合（融合不同精度的数据）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669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2F5AD-037D-0B32-5458-BE49A5E01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97" y="500062"/>
            <a:ext cx="9967175" cy="1325563"/>
          </a:xfrm>
        </p:spPr>
        <p:txBody>
          <a:bodyPr/>
          <a:lstStyle/>
          <a:p>
            <a:r>
              <a:rPr lang="zh-CN" altLang="en-US" dirty="0"/>
              <a:t>多尺度融合</a:t>
            </a:r>
            <a:r>
              <a:rPr lang="en-US" altLang="zh-CN" dirty="0"/>
              <a:t>,</a:t>
            </a:r>
            <a:r>
              <a:rPr lang="zh-CN" altLang="en-US" dirty="0"/>
              <a:t>金字塔卷积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C5D4B2-FCC4-2E37-CEFC-B0CC9BCA3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417" y="4939886"/>
            <a:ext cx="10515600" cy="4351338"/>
          </a:xfrm>
        </p:spPr>
        <p:txBody>
          <a:bodyPr>
            <a:normAutofit/>
          </a:bodyPr>
          <a:lstStyle/>
          <a:p>
            <a:endParaRPr lang="en-US" altLang="zh-CN" b="1" dirty="0"/>
          </a:p>
          <a:p>
            <a:r>
              <a:rPr lang="sv-SE" altLang="zh-CN" b="1" dirty="0"/>
              <a:t>HRNet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CE6895-A980-5FDD-FCD0-9A9AAC60E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85" y="2406311"/>
            <a:ext cx="5245571" cy="2533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4A5158-EBAA-7C70-270D-732ABB8BF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32" y="1053555"/>
            <a:ext cx="4814209" cy="388633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BCA1208-D8D5-1D2B-9D1F-7C0188DED013}"/>
              </a:ext>
            </a:extLst>
          </p:cNvPr>
          <p:cNvSpPr txBox="1"/>
          <p:nvPr/>
        </p:nvSpPr>
        <p:spPr>
          <a:xfrm>
            <a:off x="8455069" y="5342780"/>
            <a:ext cx="6137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MLSNet</a:t>
            </a:r>
            <a:endParaRPr lang="zh-CN" altLang="en-US" sz="2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0F58E8-8C07-ECF7-B55C-97D714F4E05D}"/>
              </a:ext>
            </a:extLst>
          </p:cNvPr>
          <p:cNvSpPr txBox="1"/>
          <p:nvPr/>
        </p:nvSpPr>
        <p:spPr>
          <a:xfrm>
            <a:off x="3147091" y="6173272"/>
            <a:ext cx="7340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结合长序列和多模态，找长序列中那些是有用的数据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154510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E05D1-C2AF-F5CA-6AB0-7D9844BE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F751C-B0BA-1C2A-B269-3F5ECF567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E410AA-B24F-6480-70CE-2A4D43C41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18" y="1117600"/>
            <a:ext cx="10042364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6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804EC-8D5B-404D-109F-C7EEB8FC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Towards multimodal foundation models in molecular cell biology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CDC71-5573-001A-D5E7-507255AEA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通过基因、转录、表观、蛋白质、代谢、空间生物学这些方向，使用模态内</a:t>
            </a:r>
            <a:r>
              <a:rPr lang="en-US" altLang="zh-CN" dirty="0"/>
              <a:t>/</a:t>
            </a:r>
            <a:r>
              <a:rPr lang="zh-CN" altLang="en-US" dirty="0"/>
              <a:t>模态间注意力全面的表示一个细胞。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缺失标记补全任务：基因是否表达、蛋白质丰度等</a:t>
            </a:r>
            <a:endParaRPr lang="en-US" altLang="zh-CN" dirty="0"/>
          </a:p>
          <a:p>
            <a:r>
              <a:rPr lang="zh-CN" altLang="en-US" dirty="0"/>
              <a:t>预测未来时间点的转录组或表观基因组</a:t>
            </a:r>
            <a:endParaRPr lang="en-US" altLang="zh-CN" dirty="0"/>
          </a:p>
          <a:p>
            <a:r>
              <a:rPr lang="zh-CN" altLang="en-US" dirty="0"/>
              <a:t>跨模态生成    由</a:t>
            </a:r>
            <a:r>
              <a:rPr lang="en-US" altLang="zh-CN" dirty="0"/>
              <a:t>RNA</a:t>
            </a:r>
            <a:r>
              <a:rPr lang="zh-CN" altLang="en-US" dirty="0"/>
              <a:t>序列预测蛋白质序列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262862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4209</TotalTime>
  <Words>682</Words>
  <Application>Microsoft Office PowerPoint</Application>
  <PresentationFormat>宽屏</PresentationFormat>
  <Paragraphs>75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quote-cjk-patch</vt:lpstr>
      <vt:lpstr>等线</vt:lpstr>
      <vt:lpstr>Arial</vt:lpstr>
      <vt:lpstr>Calibri</vt:lpstr>
      <vt:lpstr>Wingdings</vt:lpstr>
      <vt:lpstr>WPS</vt:lpstr>
      <vt:lpstr>长序列与多尺度特征及多模态融合</vt:lpstr>
      <vt:lpstr>Genomic Language Models: Opportunities and Challenges</vt:lpstr>
      <vt:lpstr>Deep learning applications advance plant genomics research</vt:lpstr>
      <vt:lpstr>PDLLMs: A group of tailored DNA large language models for analyzing plant genomes</vt:lpstr>
      <vt:lpstr>AlphaGenome</vt:lpstr>
      <vt:lpstr>AlphaGenome</vt:lpstr>
      <vt:lpstr>EVO2</vt:lpstr>
      <vt:lpstr>EVO2</vt:lpstr>
      <vt:lpstr>PowerPoint 演示文稿</vt:lpstr>
      <vt:lpstr>ICLR 2026 Oral  Extending Sequence Length is Not All You Need: Effective Integration of Multimodal Signals for Gene Expression Prediction</vt:lpstr>
      <vt:lpstr>Extending Sequence Length is Not All You Need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多尺度融合,金字塔卷积 </vt:lpstr>
      <vt:lpstr>·</vt:lpstr>
      <vt:lpstr>Towards multimodal foundation models in molecular cell biology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风雪双蝶</dc:creator>
  <cp:lastModifiedBy>风雪双蝶</cp:lastModifiedBy>
  <cp:revision>29</cp:revision>
  <dcterms:created xsi:type="dcterms:W3CDTF">2023-08-09T12:44:00Z</dcterms:created>
  <dcterms:modified xsi:type="dcterms:W3CDTF">2026-03-15T08:37:19Z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